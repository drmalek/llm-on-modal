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 on screen. Let it land. Then flip to the terminal and say: this is what we're building today — your own private LLM in the cloud, running in under 10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questions to answer: why self-host at all, and why Modal specifically. Walk through each of the four pillars quickly, then explain Modal's serverless-GPU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 slowly. Pause on the @app.function decorator — that's the key Modal concept. Show the deploy output live, then run the real prompt and show the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cost picture — it's very cheap for dev usage. Explain the cold start honestly — it's real, it matters, and there's a one-line fix. Close with the next video teaser.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EC4E0">
                  <a:alpha val="6000"/>
                </a:srgbClr>
              </a:gs>
              <a:gs pos="55000">
                <a:srgbClr val="2EC4E0">
                  <a:alpha val="0"/>
                </a:srgbClr>
              </a:gs>
            </a:gsLst>
            <a:path path="circle">
              <a:fillToRect l="100000" t="50000" r="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609600" y="266700"/>
            <a:ext cx="525780" cy="525780"/>
          </a:xfrm>
          <a:prstGeom prst="ellipse">
            <a:avLst/>
          </a:prstGeom>
          <a:ln w="15240">
            <a:solidFill>
              <a:srgbClr val="2EC4E0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266700"/>
            <a:ext cx="525780" cy="52578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9205" y="400050"/>
            <a:ext cx="342038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AI WITH MALEK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2000" y="2132171"/>
            <a:ext cx="92202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EPISODE 01 · LLM SERVING ON MODAL.COM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2000" y="2722721"/>
            <a:ext cx="8633460" cy="2489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850" b="1" spc="-117" kern="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could run your own private LLM in the cloud…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762000" y="5460206"/>
            <a:ext cx="9220200" cy="629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50" b="1" dirty="0">
                <a:solidFill>
                  <a:srgbClr val="2E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under 10 minutes?</a:t>
            </a:r>
            <a:endParaRPr lang="en-US" sz="4050" dirty="0"/>
          </a:p>
        </p:txBody>
      </p:sp>
      <p:sp>
        <p:nvSpPr>
          <p:cNvPr id="9" name="Shape 6"/>
          <p:cNvSpPr/>
          <p:nvPr/>
        </p:nvSpPr>
        <p:spPr>
          <a:xfrm>
            <a:off x="762000" y="6337459"/>
            <a:ext cx="533400" cy="28575"/>
          </a:xfrm>
          <a:prstGeom prst="roundRect">
            <a:avLst>
              <a:gd name="adj" fmla="val 50000"/>
            </a:avLst>
          </a:prstGeom>
          <a:solidFill>
            <a:srgbClr val="2EC4E0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6651784"/>
            <a:ext cx="6082665" cy="1501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rate limits. No data leaving your control. Your model. Your GPU. Your rules.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62000" y="8400574"/>
            <a:ext cx="2124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12508" y="8400574"/>
            <a:ext cx="441312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build it from scratch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9829800" y="2566988"/>
            <a:ext cx="7696200" cy="5021580"/>
          </a:xfrm>
          <a:prstGeom prst="roundRect">
            <a:avLst>
              <a:gd name="adj" fmla="val 2656"/>
            </a:avLst>
          </a:prstGeom>
          <a:solidFill>
            <a:srgbClr val="060D1A"/>
          </a:solidFill>
          <a:ln w="7620">
            <a:solidFill>
              <a:srgbClr val="2EC4E0">
                <a:alpha val="18000"/>
              </a:srgbClr>
            </a:solidFill>
            <a:prstDash val="solid"/>
          </a:ln>
          <a:effectLst>
            <a:outerShdw sx="100000" sy="100000" kx="0" ky="0" algn="bl" rotWithShape="0" blurRad="762000" dist="50800" dir="16200000">
              <a:srgbClr val="2EC4E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837420" y="2574608"/>
            <a:ext cx="7680960" cy="560070"/>
          </a:xfrm>
          <a:prstGeom prst="rect">
            <a:avLst/>
          </a:prstGeom>
          <a:solidFill>
            <a:srgbClr val="0C1726"/>
          </a:solidFill>
          <a:ln/>
        </p:spPr>
      </p:sp>
      <p:sp>
        <p:nvSpPr>
          <p:cNvPr id="15" name="Shape 12"/>
          <p:cNvSpPr/>
          <p:nvPr/>
        </p:nvSpPr>
        <p:spPr>
          <a:xfrm>
            <a:off x="9837420" y="3127058"/>
            <a:ext cx="768096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0027920" y="2788920"/>
            <a:ext cx="123825" cy="123825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4"/>
          <p:cNvSpPr/>
          <p:nvPr/>
        </p:nvSpPr>
        <p:spPr>
          <a:xfrm>
            <a:off x="10227945" y="2788920"/>
            <a:ext cx="123825" cy="123825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5"/>
          <p:cNvSpPr/>
          <p:nvPr/>
        </p:nvSpPr>
        <p:spPr>
          <a:xfrm>
            <a:off x="10427970" y="2788920"/>
            <a:ext cx="123825" cy="123825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6"/>
          <p:cNvSpPr/>
          <p:nvPr/>
        </p:nvSpPr>
        <p:spPr>
          <a:xfrm>
            <a:off x="10761345" y="2698433"/>
            <a:ext cx="19613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private-llm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161270" y="3420428"/>
            <a:ext cx="7244258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8A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 deploy app.py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199370" y="3854768"/>
            <a:ext cx="7206158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Created function private-llm/generate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199370" y="4289108"/>
            <a:ext cx="7206158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App deployed in 3.8s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161270" y="4894898"/>
            <a:ext cx="7244258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8A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ask.py </a:t>
            </a:r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self-attention?"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161270" y="5424488"/>
            <a:ext cx="7244258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Self-attention allows each token to attend to all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161270" y="5858828"/>
            <a:ext cx="7244258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others in the sequence, computing weighted context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161270" y="6293168"/>
            <a:ext cx="7244258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representations via learned Q, K, V projections.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161270" y="6860857"/>
            <a:ext cx="21336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0355581" y="6954203"/>
            <a:ext cx="28575" cy="24765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9" name="Text 26"/>
          <p:cNvSpPr/>
          <p:nvPr/>
        </p:nvSpPr>
        <p:spPr>
          <a:xfrm>
            <a:off x="9598914" y="7683818"/>
            <a:ext cx="792708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Mistral-7B-Instruct · GPU: A10G · Hosted on Modal.com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0" y="10258425"/>
            <a:ext cx="18288000" cy="28575"/>
          </a:xfrm>
          <a:prstGeom prst="rect">
            <a:avLst/>
          </a:prstGeom>
          <a:gradFill rotWithShape="1">
            <a:gsLst>
              <a:gs pos="0">
                <a:srgbClr val="2EC4E0">
                  <a:alpha val="100000"/>
                </a:srgbClr>
              </a:gs>
              <a:gs pos="60000">
                <a:srgbClr val="2EC4E0">
                  <a:alpha val="30000"/>
                </a:srgbClr>
              </a:gs>
              <a:gs pos="100000">
                <a:srgbClr val="2EC4E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66700"/>
            <a:ext cx="525780" cy="525780"/>
          </a:xfrm>
          <a:prstGeom prst="ellipse">
            <a:avLst/>
          </a:prstGeom>
          <a:ln w="15240">
            <a:solidFill>
              <a:srgbClr val="2EC4E0">
                <a:alpha val="35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266700"/>
            <a:ext cx="525780" cy="52578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9205" y="400050"/>
            <a:ext cx="342038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AI WITH MALEK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1211580"/>
            <a:ext cx="105143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SELF-HOST YOUR LLM?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600" y="1611630"/>
            <a:ext cx="10514302" cy="629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50" b="1" spc="-40" kern="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over your AI stack.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609600" y="2431733"/>
            <a:ext cx="4693444" cy="3599021"/>
          </a:xfrm>
          <a:prstGeom prst="roundRect">
            <a:avLst>
              <a:gd name="adj" fmla="val 3176"/>
            </a:avLst>
          </a:prstGeom>
          <a:solidFill>
            <a:srgbClr val="131D30"/>
          </a:solidFill>
          <a:ln w="762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870" y="2687003"/>
            <a:ext cx="46011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4870" y="3087053"/>
            <a:ext cx="460119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never leaves your infra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864870" y="3464243"/>
            <a:ext cx="430839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telemetry. No training on your prompts. Meets HIPAA &amp; GDPR requirements.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74494" y="2431733"/>
            <a:ext cx="4693563" cy="3599021"/>
          </a:xfrm>
          <a:prstGeom prst="roundRect">
            <a:avLst>
              <a:gd name="adj" fmla="val 3176"/>
            </a:avLst>
          </a:prstGeom>
          <a:solidFill>
            <a:srgbClr val="131D30"/>
          </a:solidFill>
          <a:ln w="762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29764" y="2687003"/>
            <a:ext cx="46013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CONTROL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729764" y="3087053"/>
            <a:ext cx="460132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per-token pricing surprises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5729764" y="3464243"/>
            <a:ext cx="430851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for GPU seconds only. High-volume use becomes dramatically cheaper.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09600" y="6202204"/>
            <a:ext cx="4693444" cy="3599021"/>
          </a:xfrm>
          <a:prstGeom prst="roundRect">
            <a:avLst>
              <a:gd name="adj" fmla="val 3176"/>
            </a:avLst>
          </a:prstGeom>
          <a:solidFill>
            <a:srgbClr val="131D30"/>
          </a:solidFill>
          <a:ln w="762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4870" y="6457474"/>
            <a:ext cx="46011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RATE LIMITS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64870" y="6857524"/>
            <a:ext cx="460119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as much traffic as you need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864870" y="7234714"/>
            <a:ext cx="430839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horizontally with Modal's autoscaling. No 429s, no throttling, ever.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74494" y="6202204"/>
            <a:ext cx="4693563" cy="3599021"/>
          </a:xfrm>
          <a:prstGeom prst="roundRect">
            <a:avLst>
              <a:gd name="adj" fmla="val 3176"/>
            </a:avLst>
          </a:prstGeom>
          <a:solidFill>
            <a:srgbClr val="131D30"/>
          </a:solidFill>
          <a:ln w="762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29764" y="6457474"/>
            <a:ext cx="46013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OWNERSHIP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729764" y="6857524"/>
            <a:ext cx="460132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model, any config, any time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5729764" y="7234714"/>
            <a:ext cx="430851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Llama, Mistral, Qwen, or your own fine-tune. Zero vendor lock-in.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701457" y="1249680"/>
            <a:ext cx="76746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MODAL.COM?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701457" y="1649730"/>
            <a:ext cx="7186252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GPU Cloud. Pay per second.</a:t>
            </a:r>
            <a:endParaRPr lang="en-US" sz="3000" dirty="0"/>
          </a:p>
        </p:txBody>
      </p:sp>
      <p:sp>
        <p:nvSpPr>
          <p:cNvPr id="25" name="Shape 22"/>
          <p:cNvSpPr/>
          <p:nvPr/>
        </p:nvSpPr>
        <p:spPr>
          <a:xfrm>
            <a:off x="10701457" y="2811780"/>
            <a:ext cx="6976943" cy="2263140"/>
          </a:xfrm>
          <a:prstGeom prst="roundRect">
            <a:avLst>
              <a:gd name="adj" fmla="val 5892"/>
            </a:avLst>
          </a:prstGeom>
          <a:solidFill>
            <a:srgbClr val="131D30"/>
          </a:solidFill>
          <a:ln w="762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37677" y="3086100"/>
            <a:ext cx="715495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26" kern="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0937677" y="3562350"/>
            <a:ext cx="1873210" cy="1238250"/>
          </a:xfrm>
          <a:prstGeom prst="roundRect">
            <a:avLst>
              <a:gd name="adj" fmla="val 7692"/>
            </a:avLst>
          </a:prstGeom>
          <a:solidFill>
            <a:srgbClr val="1A2840"/>
          </a:solidFill>
          <a:ln w="762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020039" y="3722370"/>
            <a:ext cx="170848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1020039" y="4084320"/>
            <a:ext cx="170848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Code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1020039" y="4343400"/>
            <a:ext cx="170848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2925187" y="4013835"/>
            <a:ext cx="28991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E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13253204" y="3562350"/>
            <a:ext cx="1873329" cy="1238250"/>
          </a:xfrm>
          <a:prstGeom prst="roundRect">
            <a:avLst>
              <a:gd name="adj" fmla="val 7692"/>
            </a:avLst>
          </a:prstGeom>
          <a:solidFill>
            <a:srgbClr val="1A2840"/>
          </a:solidFill>
          <a:ln w="7620">
            <a:solidFill>
              <a:srgbClr val="2EC4E0">
                <a:alpha val="22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335560" y="3722370"/>
            <a:ext cx="17086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3335560" y="4084320"/>
            <a:ext cx="17086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3335560" y="4343400"/>
            <a:ext cx="170861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5240834" y="4013835"/>
            <a:ext cx="28991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E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7" name="Shape 34"/>
          <p:cNvSpPr/>
          <p:nvPr/>
        </p:nvSpPr>
        <p:spPr>
          <a:xfrm>
            <a:off x="15568851" y="3562350"/>
            <a:ext cx="1873329" cy="1238250"/>
          </a:xfrm>
          <a:prstGeom prst="roundRect">
            <a:avLst>
              <a:gd name="adj" fmla="val 7692"/>
            </a:avLst>
          </a:prstGeom>
          <a:solidFill>
            <a:srgbClr val="1A2840"/>
          </a:solidFill>
          <a:ln w="762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5651207" y="3722370"/>
            <a:ext cx="17086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▪▪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5651207" y="4084320"/>
            <a:ext cx="170861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A10G GPU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5651207" y="4343400"/>
            <a:ext cx="170861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demand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0701457" y="5284470"/>
            <a:ext cx="3402687" cy="1798320"/>
          </a:xfrm>
          <a:prstGeom prst="roundRect">
            <a:avLst>
              <a:gd name="adj" fmla="val 5297"/>
            </a:avLst>
          </a:prstGeom>
          <a:solidFill>
            <a:srgbClr val="2EC4E0">
              <a:alpha val="12000"/>
            </a:srgbClr>
          </a:solidFill>
          <a:ln w="7620">
            <a:solidFill>
              <a:srgbClr val="2EC4E0">
                <a:alpha val="18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899577" y="5482590"/>
            <a:ext cx="3307092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$0.000</a:t>
            </a:r>
            <a:endParaRPr lang="en-US" sz="3000" dirty="0"/>
          </a:p>
        </p:txBody>
      </p:sp>
      <p:sp>
        <p:nvSpPr>
          <p:cNvPr id="43" name="Text 40"/>
          <p:cNvSpPr/>
          <p:nvPr/>
        </p:nvSpPr>
        <p:spPr>
          <a:xfrm>
            <a:off x="10899577" y="5955030"/>
            <a:ext cx="330709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idle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10899577" y="6290310"/>
            <a:ext cx="3096641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pay-per-second billing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14275594" y="5284470"/>
            <a:ext cx="3402806" cy="1798320"/>
          </a:xfrm>
          <a:prstGeom prst="roundRect">
            <a:avLst>
              <a:gd name="adj" fmla="val 5297"/>
            </a:avLst>
          </a:prstGeom>
          <a:solidFill>
            <a:srgbClr val="131D30"/>
          </a:solidFill>
          <a:ln w="762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4473714" y="5482590"/>
            <a:ext cx="3307223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~1s</a:t>
            </a:r>
            <a:endParaRPr lang="en-US" sz="3000" dirty="0"/>
          </a:p>
        </p:txBody>
      </p:sp>
      <p:sp>
        <p:nvSpPr>
          <p:cNvPr id="47" name="Text 44"/>
          <p:cNvSpPr/>
          <p:nvPr/>
        </p:nvSpPr>
        <p:spPr>
          <a:xfrm>
            <a:off x="14473714" y="5955030"/>
            <a:ext cx="330722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response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14473714" y="6290310"/>
            <a:ext cx="330722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Billed for ~1s of GPU time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0" y="10258425"/>
            <a:ext cx="18288000" cy="28575"/>
          </a:xfrm>
          <a:prstGeom prst="rect">
            <a:avLst/>
          </a:prstGeom>
          <a:gradFill rotWithShape="1">
            <a:gsLst>
              <a:gs pos="0">
                <a:srgbClr val="2EC4E0">
                  <a:alpha val="100000"/>
                </a:srgbClr>
              </a:gs>
              <a:gs pos="60000">
                <a:srgbClr val="2EC4E0">
                  <a:alpha val="30000"/>
                </a:srgbClr>
              </a:gs>
              <a:gs pos="100000">
                <a:srgbClr val="2EC4E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66700"/>
            <a:ext cx="525780" cy="525780"/>
          </a:xfrm>
          <a:prstGeom prst="ellipse">
            <a:avLst/>
          </a:prstGeom>
          <a:ln w="15240">
            <a:solidFill>
              <a:srgbClr val="2EC4E0">
                <a:alpha val="35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266700"/>
            <a:ext cx="525780" cy="52578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9205" y="400050"/>
            <a:ext cx="342038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AI WITH MALEK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1059180"/>
            <a:ext cx="187756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 → DEPLOY → TEST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600" y="1440180"/>
            <a:ext cx="1877568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Running Endpoint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609600" y="2179320"/>
            <a:ext cx="91782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Install &amp; Setup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609600" y="2636520"/>
            <a:ext cx="8343900" cy="2004060"/>
          </a:xfrm>
          <a:prstGeom prst="roundRect">
            <a:avLst>
              <a:gd name="adj" fmla="val 4753"/>
            </a:avLst>
          </a:prstGeom>
          <a:solidFill>
            <a:srgbClr val="060D1A"/>
          </a:solidFill>
          <a:ln w="762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7220" y="2644140"/>
            <a:ext cx="8328660" cy="483870"/>
          </a:xfrm>
          <a:prstGeom prst="rect">
            <a:avLst/>
          </a:prstGeom>
          <a:solidFill>
            <a:srgbClr val="090F1E"/>
          </a:solidFill>
          <a:ln/>
        </p:spPr>
      </p:sp>
      <p:sp>
        <p:nvSpPr>
          <p:cNvPr id="10" name="Shape 7"/>
          <p:cNvSpPr/>
          <p:nvPr/>
        </p:nvSpPr>
        <p:spPr>
          <a:xfrm>
            <a:off x="617220" y="3120390"/>
            <a:ext cx="832866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88670" y="2729865"/>
            <a:ext cx="82356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07720" y="3280410"/>
            <a:ext cx="81860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8A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modal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7720" y="3680460"/>
            <a:ext cx="81860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8A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 token new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45820" y="4080510"/>
            <a:ext cx="81479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Opens browser, saves credentials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09600" y="4792980"/>
            <a:ext cx="8343900" cy="5084445"/>
          </a:xfrm>
          <a:prstGeom prst="roundRect">
            <a:avLst>
              <a:gd name="adj" fmla="val 1873"/>
            </a:avLst>
          </a:prstGeom>
          <a:solidFill>
            <a:srgbClr val="060D1A"/>
          </a:solidFill>
          <a:ln w="7620">
            <a:solidFill>
              <a:srgbClr val="2EC4E0">
                <a:alpha val="1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" y="4800600"/>
            <a:ext cx="8010525" cy="483870"/>
          </a:xfrm>
          <a:prstGeom prst="rect">
            <a:avLst/>
          </a:prstGeom>
          <a:solidFill>
            <a:srgbClr val="090F1E"/>
          </a:solidFill>
          <a:ln/>
        </p:spPr>
      </p:sp>
      <p:sp>
        <p:nvSpPr>
          <p:cNvPr id="17" name="Shape 14"/>
          <p:cNvSpPr/>
          <p:nvPr/>
        </p:nvSpPr>
        <p:spPr>
          <a:xfrm>
            <a:off x="617220" y="5276850"/>
            <a:ext cx="8010525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788670" y="4886325"/>
            <a:ext cx="79079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— GPU-backed function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07720" y="5436870"/>
            <a:ext cx="80055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07720" y="5894070"/>
            <a:ext cx="80055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modal.App(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"private-llm"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07720" y="6351270"/>
            <a:ext cx="80055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(modal.Image.debian_slim()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74420" y="6751320"/>
            <a:ext cx="77388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.pip_install(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"transformers"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"torch"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07720" y="7208520"/>
            <a:ext cx="80055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@app.function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(gpu=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"A10G"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image=image)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07720" y="7608570"/>
            <a:ext cx="80055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(prompt: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74420" y="8008620"/>
            <a:ext cx="77388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transformers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74420" y="8408670"/>
            <a:ext cx="77388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"text-generation"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341120" y="8808720"/>
            <a:ext cx="74721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model=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"mistralai/Mistral-7B-Instruct-v0.2"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74420" y="9208770"/>
            <a:ext cx="77388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pipe(prompt, max_new_tokens=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341120" y="9608820"/>
            <a:ext cx="74721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"generated_text"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334500" y="2179320"/>
            <a:ext cx="91782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Deploy &amp; ③ Test</a:t>
            </a:r>
            <a:endParaRPr lang="en-US" sz="1950" dirty="0"/>
          </a:p>
        </p:txBody>
      </p:sp>
      <p:sp>
        <p:nvSpPr>
          <p:cNvPr id="31" name="Shape 28"/>
          <p:cNvSpPr/>
          <p:nvPr/>
        </p:nvSpPr>
        <p:spPr>
          <a:xfrm>
            <a:off x="9334500" y="2636520"/>
            <a:ext cx="8343900" cy="2842260"/>
          </a:xfrm>
          <a:prstGeom prst="roundRect">
            <a:avLst>
              <a:gd name="adj" fmla="val 3351"/>
            </a:avLst>
          </a:prstGeom>
          <a:solidFill>
            <a:srgbClr val="060D1A"/>
          </a:solidFill>
          <a:ln w="762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342120" y="2644140"/>
            <a:ext cx="8328660" cy="483870"/>
          </a:xfrm>
          <a:prstGeom prst="rect">
            <a:avLst/>
          </a:prstGeom>
          <a:solidFill>
            <a:srgbClr val="090F1E"/>
          </a:solidFill>
          <a:ln/>
        </p:spPr>
      </p:sp>
      <p:sp>
        <p:nvSpPr>
          <p:cNvPr id="33" name="Shape 30"/>
          <p:cNvSpPr/>
          <p:nvPr/>
        </p:nvSpPr>
        <p:spPr>
          <a:xfrm>
            <a:off x="9342120" y="3120390"/>
            <a:ext cx="832866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9513570" y="2729865"/>
            <a:ext cx="82356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9532620" y="3280410"/>
            <a:ext cx="81860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8A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 deploy app.py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9532620" y="3680460"/>
            <a:ext cx="81860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Created mount /root/app.py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9532620" y="4080510"/>
            <a:ext cx="81860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Created function private-llm/generate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9532620" y="4480560"/>
            <a:ext cx="81860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App deployed in 4.2s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9532620" y="4918710"/>
            <a:ext cx="81860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yourname--private-llm-generate.modal.run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9334500" y="5631180"/>
            <a:ext cx="8343900" cy="3461385"/>
          </a:xfrm>
          <a:prstGeom prst="roundRect">
            <a:avLst>
              <a:gd name="adj" fmla="val 2752"/>
            </a:avLst>
          </a:prstGeom>
          <a:solidFill>
            <a:srgbClr val="060D1A"/>
          </a:solidFill>
          <a:ln w="7620">
            <a:solidFill>
              <a:srgbClr val="2EC4E0">
                <a:alpha val="15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342120" y="5638800"/>
            <a:ext cx="8328660" cy="483870"/>
          </a:xfrm>
          <a:prstGeom prst="rect">
            <a:avLst/>
          </a:prstGeom>
          <a:solidFill>
            <a:srgbClr val="090F1E"/>
          </a:solidFill>
          <a:ln/>
        </p:spPr>
      </p:sp>
      <p:sp>
        <p:nvSpPr>
          <p:cNvPr id="42" name="Shape 39"/>
          <p:cNvSpPr/>
          <p:nvPr/>
        </p:nvSpPr>
        <p:spPr>
          <a:xfrm>
            <a:off x="9342120" y="6115050"/>
            <a:ext cx="8328660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9513570" y="5724525"/>
            <a:ext cx="82356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prompt → Real response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9532620" y="6236970"/>
            <a:ext cx="818609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AC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-c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9742170" y="6625590"/>
            <a:ext cx="797654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9742170" y="7014210"/>
            <a:ext cx="797654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modal.Function.lookup(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'private-llm'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'generate'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9742170" y="7402830"/>
            <a:ext cx="797654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print(f.remote(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'Explain RAG in 2 sentences'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9532620" y="7791450"/>
            <a:ext cx="818609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9532620" y="8256270"/>
            <a:ext cx="818609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Response (1.4s):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9532620" y="8682990"/>
            <a:ext cx="818609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grounds LLM responses in real documents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9532620" y="9071610"/>
            <a:ext cx="818609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retrieving relevant context via vector search.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9334500" y="9244965"/>
            <a:ext cx="8343900" cy="632460"/>
          </a:xfrm>
          <a:prstGeom prst="roundRect">
            <a:avLst>
              <a:gd name="adj" fmla="val 15060"/>
            </a:avLst>
          </a:prstGeom>
          <a:solidFill>
            <a:srgbClr val="2EC4E0">
              <a:alpha val="12000"/>
            </a:srgbClr>
          </a:solidFill>
          <a:ln w="7620">
            <a:solidFill>
              <a:srgbClr val="2EC4E0">
                <a:alpha val="2000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532620" y="9523095"/>
            <a:ext cx="76200" cy="76200"/>
          </a:xfrm>
          <a:prstGeom prst="ellipse">
            <a:avLst/>
          </a:prstGeom>
          <a:solidFill>
            <a:srgbClr val="2EC4E0"/>
          </a:solidFill>
          <a:ln/>
        </p:spPr>
      </p:sp>
      <p:sp>
        <p:nvSpPr>
          <p:cNvPr id="54" name="Text 51"/>
          <p:cNvSpPr/>
          <p:nvPr/>
        </p:nvSpPr>
        <p:spPr>
          <a:xfrm>
            <a:off x="9742170" y="9404985"/>
            <a:ext cx="648478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</a:t>
            </a:r>
            <a:pPr algn="l" indent="0" marL="0">
              <a:buNone/>
            </a:pPr>
            <a:r>
              <a:rPr lang="en-US" sz="1950" b="1" dirty="0">
                <a:solidFill>
                  <a:srgbClr val="2E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</a:t>
            </a:r>
            <a:pPr algn="l" indent="0" marL="0">
              <a:buNone/>
            </a:pPr>
            <a:r>
              <a:rPr lang="en-US" sz="195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 your Modal infrastructure</a:t>
            </a:r>
            <a:endParaRPr lang="en-US" sz="1950" dirty="0"/>
          </a:p>
        </p:txBody>
      </p:sp>
      <p:sp>
        <p:nvSpPr>
          <p:cNvPr id="55" name="Shape 52"/>
          <p:cNvSpPr/>
          <p:nvPr/>
        </p:nvSpPr>
        <p:spPr>
          <a:xfrm>
            <a:off x="0" y="10258425"/>
            <a:ext cx="18288000" cy="28575"/>
          </a:xfrm>
          <a:prstGeom prst="rect">
            <a:avLst/>
          </a:prstGeom>
          <a:gradFill rotWithShape="1">
            <a:gsLst>
              <a:gs pos="0">
                <a:srgbClr val="2EC4E0">
                  <a:alpha val="100000"/>
                </a:srgbClr>
              </a:gs>
              <a:gs pos="60000">
                <a:srgbClr val="2EC4E0">
                  <a:alpha val="30000"/>
                </a:srgbClr>
              </a:gs>
              <a:gs pos="100000">
                <a:srgbClr val="2EC4E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66700"/>
            <a:ext cx="525780" cy="525780"/>
          </a:xfrm>
          <a:prstGeom prst="ellipse">
            <a:avLst/>
          </a:prstGeom>
          <a:ln w="15240">
            <a:solidFill>
              <a:srgbClr val="2EC4E0">
                <a:alpha val="35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266700"/>
            <a:ext cx="525780" cy="52578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9205" y="400050"/>
            <a:ext cx="342038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AI WITH MALEK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9600" y="1059180"/>
            <a:ext cx="187756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YOU SHIP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600" y="1440180"/>
            <a:ext cx="18775680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-40" kern="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trade-offs. Ship confidently.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609600" y="2179320"/>
            <a:ext cx="600701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Estimate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609600" y="2613660"/>
            <a:ext cx="5460921" cy="2228850"/>
          </a:xfrm>
          <a:prstGeom prst="roundRect">
            <a:avLst>
              <a:gd name="adj" fmla="val 5128"/>
            </a:avLst>
          </a:prstGeom>
          <a:solidFill>
            <a:srgbClr val="131D30"/>
          </a:solidFill>
          <a:ln w="762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7220" y="2621280"/>
            <a:ext cx="5445681" cy="541020"/>
          </a:xfrm>
          <a:prstGeom prst="rect">
            <a:avLst/>
          </a:prstGeom>
          <a:solidFill>
            <a:srgbClr val="0A1422"/>
          </a:solidFill>
          <a:ln/>
        </p:spPr>
      </p:sp>
      <p:sp>
        <p:nvSpPr>
          <p:cNvPr id="10" name="Shape 7"/>
          <p:cNvSpPr/>
          <p:nvPr/>
        </p:nvSpPr>
        <p:spPr>
          <a:xfrm>
            <a:off x="617220" y="3154680"/>
            <a:ext cx="5445681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07720" y="2735580"/>
            <a:ext cx="18570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495907" y="2735580"/>
            <a:ext cx="15475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$/hr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902750" y="2735580"/>
            <a:ext cx="21666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~$/session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17220" y="3714750"/>
            <a:ext cx="5445681" cy="952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807720" y="3286125"/>
            <a:ext cx="18570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A10G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495907" y="3286125"/>
            <a:ext cx="15475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$1.10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902750" y="3286125"/>
            <a:ext cx="21666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$0.05 – 0.20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17220" y="4274820"/>
            <a:ext cx="5445681" cy="952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07720" y="3846195"/>
            <a:ext cx="18570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A100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2495907" y="3846195"/>
            <a:ext cx="15475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$3.70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902750" y="3846195"/>
            <a:ext cx="21666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$0.15 – 0.60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07720" y="4406265"/>
            <a:ext cx="18570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H100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2495907" y="4406265"/>
            <a:ext cx="15475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$8.30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3902750" y="4406265"/>
            <a:ext cx="21666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$0.30 – 1.20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09600" y="4994910"/>
            <a:ext cx="5460921" cy="1699260"/>
          </a:xfrm>
          <a:prstGeom prst="roundRect">
            <a:avLst>
              <a:gd name="adj" fmla="val 5605"/>
            </a:avLst>
          </a:prstGeom>
          <a:solidFill>
            <a:srgbClr val="2EC4E0">
              <a:alpha val="12000"/>
            </a:srgbClr>
          </a:solidFill>
          <a:ln w="7620">
            <a:solidFill>
              <a:srgbClr val="2EC4E0">
                <a:alpha val="1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7720" y="5173980"/>
            <a:ext cx="557114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zero when idle.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807720" y="5513070"/>
            <a:ext cx="557114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Billed to the millisecond. No minimum charge.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07720" y="5905500"/>
            <a:ext cx="521662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~$0.0003 per call · ~3,300 requests / $1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09600" y="6846570"/>
            <a:ext cx="5460921" cy="2992755"/>
          </a:xfrm>
          <a:prstGeom prst="roundRect">
            <a:avLst>
              <a:gd name="adj" fmla="val 3183"/>
            </a:avLst>
          </a:prstGeom>
          <a:solidFill>
            <a:srgbClr val="131D30"/>
          </a:solidFill>
          <a:ln w="762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7720" y="7780973"/>
            <a:ext cx="557114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~$0.08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807720" y="8272463"/>
            <a:ext cx="557114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dev session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07720" y="8607743"/>
            <a:ext cx="557114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A10G, 5 min active, 7B model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413421" y="2179320"/>
            <a:ext cx="600714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 Start Caveat</a:t>
            </a:r>
            <a:endParaRPr lang="en-US" sz="1950" dirty="0"/>
          </a:p>
        </p:txBody>
      </p:sp>
      <p:sp>
        <p:nvSpPr>
          <p:cNvPr id="34" name="Shape 31"/>
          <p:cNvSpPr/>
          <p:nvPr/>
        </p:nvSpPr>
        <p:spPr>
          <a:xfrm>
            <a:off x="6413421" y="2613660"/>
            <a:ext cx="5461040" cy="7225665"/>
          </a:xfrm>
          <a:prstGeom prst="roundRect">
            <a:avLst>
              <a:gd name="adj" fmla="val 2093"/>
            </a:avLst>
          </a:prstGeom>
          <a:solidFill>
            <a:srgbClr val="131D30"/>
          </a:solidFill>
          <a:ln w="7620">
            <a:solidFill>
              <a:srgbClr val="F5C518">
                <a:alpha val="18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68691" y="2868930"/>
            <a:ext cx="5445550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– 60s</a:t>
            </a:r>
            <a:endParaRPr lang="en-US" sz="4050" dirty="0"/>
          </a:p>
        </p:txBody>
      </p:sp>
      <p:sp>
        <p:nvSpPr>
          <p:cNvPr id="36" name="Text 33"/>
          <p:cNvSpPr/>
          <p:nvPr/>
        </p:nvSpPr>
        <p:spPr>
          <a:xfrm>
            <a:off x="6668691" y="3505200"/>
            <a:ext cx="544555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request after container idles</a:t>
            </a:r>
            <a:endParaRPr lang="en-US" sz="1950" dirty="0"/>
          </a:p>
        </p:txBody>
      </p:sp>
      <p:sp>
        <p:nvSpPr>
          <p:cNvPr id="37" name="Shape 34"/>
          <p:cNvSpPr/>
          <p:nvPr/>
        </p:nvSpPr>
        <p:spPr>
          <a:xfrm>
            <a:off x="6668691" y="3989070"/>
            <a:ext cx="495050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6668691" y="4170045"/>
            <a:ext cx="54455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during cold start: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6668691" y="4600575"/>
            <a:ext cx="3505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7057311" y="4581525"/>
            <a:ext cx="35785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spin-up &amp; CUDA init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6668691" y="5038725"/>
            <a:ext cx="3505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7057311" y="5019675"/>
            <a:ext cx="451933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weights loaded into GPU VRAM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6668691" y="5476875"/>
            <a:ext cx="3505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C5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7057311" y="5457825"/>
            <a:ext cx="343321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 cache warmed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6668691" y="5953125"/>
            <a:ext cx="495050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6668691" y="6134100"/>
            <a:ext cx="54455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keep a container warm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6668691" y="6526530"/>
            <a:ext cx="4950500" cy="1043940"/>
          </a:xfrm>
          <a:prstGeom prst="roundRect">
            <a:avLst>
              <a:gd name="adj" fmla="val 7299"/>
            </a:avLst>
          </a:prstGeom>
          <a:solidFill>
            <a:srgbClr val="060D1A"/>
          </a:solidFill>
          <a:ln/>
        </p:spPr>
      </p:sp>
      <p:sp>
        <p:nvSpPr>
          <p:cNvPr id="48" name="Text 45"/>
          <p:cNvSpPr/>
          <p:nvPr/>
        </p:nvSpPr>
        <p:spPr>
          <a:xfrm>
            <a:off x="6821091" y="6659880"/>
            <a:ext cx="4794215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@app.function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(gpu=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"A10G"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keep_warm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70000"/>
              </a:lnSpc>
              <a:buNone/>
            </a:pPr>
            <a:r>
              <a:rPr lang="en-US" sz="1800" dirty="0">
                <a:solidFill>
                  <a:srgbClr val="D0E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49" name="Text 46"/>
          <p:cNvSpPr/>
          <p:nvPr/>
        </p:nvSpPr>
        <p:spPr>
          <a:xfrm>
            <a:off x="6668691" y="7646670"/>
            <a:ext cx="509901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container → sub-500ms responses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12217360" y="2179320"/>
            <a:ext cx="600714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Episode →</a:t>
            </a:r>
            <a:endParaRPr lang="en-US" sz="1950" dirty="0"/>
          </a:p>
        </p:txBody>
      </p:sp>
      <p:sp>
        <p:nvSpPr>
          <p:cNvPr id="51" name="Shape 48"/>
          <p:cNvSpPr/>
          <p:nvPr/>
        </p:nvSpPr>
        <p:spPr>
          <a:xfrm>
            <a:off x="12217360" y="2613660"/>
            <a:ext cx="5461040" cy="7225665"/>
          </a:xfrm>
          <a:prstGeom prst="roundRect">
            <a:avLst>
              <a:gd name="adj" fmla="val 2093"/>
            </a:avLst>
          </a:prstGeom>
          <a:solidFill>
            <a:srgbClr val="131D30"/>
          </a:solidFill>
          <a:ln w="7620">
            <a:solidFill>
              <a:srgbClr val="4ADE80">
                <a:alpha val="15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2472631" y="2868930"/>
            <a:ext cx="5445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for Production</a:t>
            </a:r>
            <a:endParaRPr lang="en-US" sz="2400" dirty="0"/>
          </a:p>
        </p:txBody>
      </p:sp>
      <p:sp>
        <p:nvSpPr>
          <p:cNvPr id="53" name="Text 50"/>
          <p:cNvSpPr/>
          <p:nvPr/>
        </p:nvSpPr>
        <p:spPr>
          <a:xfrm>
            <a:off x="12472631" y="3326130"/>
            <a:ext cx="54455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fast. Make it cheap. Make it scale.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12472631" y="3794760"/>
            <a:ext cx="495050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12472631" y="4004310"/>
            <a:ext cx="2019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12712660" y="3975735"/>
            <a:ext cx="485178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model loading with </a:t>
            </a:r>
            <a:pPr algn="l" indent="0" marL="0">
              <a:buNone/>
            </a:pPr>
            <a:r>
              <a:rPr lang="en-US" sz="1800" dirty="0">
                <a:solidFill>
                  <a:srgbClr val="2EC4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@modal.enter()</a:t>
            </a:r>
            <a:endParaRPr lang="en-US" sz="1800" dirty="0"/>
          </a:p>
        </p:txBody>
      </p:sp>
      <p:sp>
        <p:nvSpPr>
          <p:cNvPr id="57" name="Text 54"/>
          <p:cNvSpPr/>
          <p:nvPr/>
        </p:nvSpPr>
        <p:spPr>
          <a:xfrm>
            <a:off x="12472631" y="4739640"/>
            <a:ext cx="2019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800" dirty="0"/>
          </a:p>
        </p:txBody>
      </p:sp>
      <p:sp>
        <p:nvSpPr>
          <p:cNvPr id="58" name="Text 55"/>
          <p:cNvSpPr/>
          <p:nvPr/>
        </p:nvSpPr>
        <p:spPr>
          <a:xfrm>
            <a:off x="12712660" y="4711065"/>
            <a:ext cx="437933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 &amp; throughput optimization</a:t>
            </a:r>
            <a:endParaRPr lang="en-US" sz="1800" dirty="0"/>
          </a:p>
        </p:txBody>
      </p:sp>
      <p:sp>
        <p:nvSpPr>
          <p:cNvPr id="59" name="Text 56"/>
          <p:cNvSpPr/>
          <p:nvPr/>
        </p:nvSpPr>
        <p:spPr>
          <a:xfrm>
            <a:off x="12472631" y="5206365"/>
            <a:ext cx="2019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12712660" y="5177790"/>
            <a:ext cx="342273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REST API</a:t>
            </a:r>
            <a:endParaRPr lang="en-US" sz="1800" dirty="0"/>
          </a:p>
        </p:txBody>
      </p:sp>
      <p:sp>
        <p:nvSpPr>
          <p:cNvPr id="61" name="Text 58"/>
          <p:cNvSpPr/>
          <p:nvPr/>
        </p:nvSpPr>
        <p:spPr>
          <a:xfrm>
            <a:off x="12472631" y="5673090"/>
            <a:ext cx="2019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12712660" y="5644515"/>
            <a:ext cx="399677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Autoscaling &amp; concurrency limits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12472631" y="6149340"/>
            <a:ext cx="495050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12472631" y="6330315"/>
            <a:ext cx="4950500" cy="1211580"/>
          </a:xfrm>
          <a:prstGeom prst="roundRect">
            <a:avLst>
              <a:gd name="adj" fmla="val 6289"/>
            </a:avLst>
          </a:prstGeom>
          <a:solidFill>
            <a:srgbClr val="2EC4E0">
              <a:alpha val="12000"/>
            </a:srgbClr>
          </a:solidFill>
          <a:ln w="7620">
            <a:solidFill>
              <a:srgbClr val="2EC4E0">
                <a:alpha val="15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651701" y="6490335"/>
            <a:ext cx="505159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C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 to Hybrid AI</a:t>
            </a:r>
            <a:endParaRPr lang="en-US" sz="1800" dirty="0"/>
          </a:p>
        </p:txBody>
      </p:sp>
      <p:sp>
        <p:nvSpPr>
          <p:cNvPr id="66" name="Text 63"/>
          <p:cNvSpPr/>
          <p:nvPr/>
        </p:nvSpPr>
        <p:spPr>
          <a:xfrm>
            <a:off x="12651701" y="6787515"/>
            <a:ext cx="4730131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D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video every week on practical AI engineering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0" y="10258425"/>
            <a:ext cx="18288000" cy="28575"/>
          </a:xfrm>
          <a:prstGeom prst="rect">
            <a:avLst/>
          </a:prstGeom>
          <a:gradFill rotWithShape="1">
            <a:gsLst>
              <a:gs pos="0">
                <a:srgbClr val="2EC4E0">
                  <a:alpha val="100000"/>
                </a:srgbClr>
              </a:gs>
              <a:gs pos="60000">
                <a:srgbClr val="2EC4E0">
                  <a:alpha val="30000"/>
                </a:srgbClr>
              </a:gs>
              <a:gs pos="100000">
                <a:srgbClr val="2EC4E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2026-06-21T20:04:40Z</dcterms:created>
  <dcterms:modified xsi:type="dcterms:W3CDTF">2026-06-21T20:04:40Z</dcterms:modified>
</cp:coreProperties>
</file>